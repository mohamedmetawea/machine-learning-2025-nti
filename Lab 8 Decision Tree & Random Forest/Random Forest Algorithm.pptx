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png" ContentType="image/png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2192000" cy="6858000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404040"/>
                </a:solidFill>
                <a:latin typeface="Calibri Light"/>
                <a:cs typeface="Calibri Ligh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404040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404040"/>
                </a:solidFill>
                <a:latin typeface="Calibri Light"/>
                <a:cs typeface="Calibri Ligh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404040"/>
                </a:solidFill>
                <a:latin typeface="Calibri Light"/>
                <a:cs typeface="Calibri Ligh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400799"/>
            <a:ext cx="12192000" cy="457200"/>
          </a:xfrm>
          <a:custGeom>
            <a:avLst/>
            <a:gdLst/>
            <a:ahLst/>
            <a:cxnLst/>
            <a:rect l="l" t="t" r="r" b="b"/>
            <a:pathLst>
              <a:path w="12192000" h="457200">
                <a:moveTo>
                  <a:pt x="12192000" y="0"/>
                </a:moveTo>
                <a:lnTo>
                  <a:pt x="0" y="0"/>
                </a:lnTo>
                <a:lnTo>
                  <a:pt x="0" y="457199"/>
                </a:lnTo>
                <a:lnTo>
                  <a:pt x="12192000" y="457199"/>
                </a:lnTo>
                <a:lnTo>
                  <a:pt x="12192000" y="0"/>
                </a:lnTo>
                <a:close/>
              </a:path>
            </a:pathLst>
          </a:custGeom>
          <a:solidFill>
            <a:srgbClr val="BC572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6333744"/>
            <a:ext cx="12192000" cy="67310"/>
          </a:xfrm>
          <a:custGeom>
            <a:avLst/>
            <a:gdLst/>
            <a:ahLst/>
            <a:cxnLst/>
            <a:rect l="l" t="t" r="r" b="b"/>
            <a:pathLst>
              <a:path w="12192000" h="67310">
                <a:moveTo>
                  <a:pt x="12192000" y="0"/>
                </a:moveTo>
                <a:lnTo>
                  <a:pt x="0" y="0"/>
                </a:lnTo>
                <a:lnTo>
                  <a:pt x="0" y="67055"/>
                </a:lnTo>
                <a:lnTo>
                  <a:pt x="12192000" y="67055"/>
                </a:lnTo>
                <a:lnTo>
                  <a:pt x="12192000" y="0"/>
                </a:lnTo>
                <a:close/>
              </a:path>
            </a:pathLst>
          </a:custGeom>
          <a:solidFill>
            <a:srgbClr val="E3831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 h="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350">
            <a:solidFill>
              <a:srgbClr val="7E7E7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095113" y="3124022"/>
            <a:ext cx="2001773" cy="757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rgbClr val="404040"/>
                </a:solidFill>
                <a:latin typeface="Calibri Light"/>
                <a:cs typeface="Calibri Ligh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01699" y="2105913"/>
            <a:ext cx="10388600" cy="27292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404040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333744"/>
            <a:ext cx="12192000" cy="524510"/>
            <a:chOff x="0" y="6333744"/>
            <a:chExt cx="12192000" cy="524510"/>
          </a:xfrm>
        </p:grpSpPr>
        <p:sp>
          <p:nvSpPr>
            <p:cNvPr id="3" name="object 3"/>
            <p:cNvSpPr/>
            <p:nvPr/>
          </p:nvSpPr>
          <p:spPr>
            <a:xfrm>
              <a:off x="3047" y="6400799"/>
              <a:ext cx="12189460" cy="457200"/>
            </a:xfrm>
            <a:custGeom>
              <a:avLst/>
              <a:gdLst/>
              <a:ahLst/>
              <a:cxnLst/>
              <a:rect l="l" t="t" r="r" b="b"/>
              <a:pathLst>
                <a:path w="12189460" h="457200">
                  <a:moveTo>
                    <a:pt x="12188952" y="0"/>
                  </a:moveTo>
                  <a:lnTo>
                    <a:pt x="0" y="0"/>
                  </a:lnTo>
                  <a:lnTo>
                    <a:pt x="0" y="457199"/>
                  </a:lnTo>
                  <a:lnTo>
                    <a:pt x="12188952" y="457199"/>
                  </a:lnTo>
                  <a:lnTo>
                    <a:pt x="12188952" y="0"/>
                  </a:lnTo>
                  <a:close/>
                </a:path>
              </a:pathLst>
            </a:custGeom>
            <a:solidFill>
              <a:srgbClr val="BC57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0" y="6333744"/>
              <a:ext cx="12189460" cy="64135"/>
            </a:xfrm>
            <a:custGeom>
              <a:avLst/>
              <a:gdLst/>
              <a:ahLst/>
              <a:cxnLst/>
              <a:rect l="l" t="t" r="r" b="b"/>
              <a:pathLst>
                <a:path w="12189460" h="64135">
                  <a:moveTo>
                    <a:pt x="12188952" y="0"/>
                  </a:moveTo>
                  <a:lnTo>
                    <a:pt x="0" y="0"/>
                  </a:lnTo>
                  <a:lnTo>
                    <a:pt x="0" y="64007"/>
                  </a:lnTo>
                  <a:lnTo>
                    <a:pt x="12188952" y="64007"/>
                  </a:lnTo>
                  <a:lnTo>
                    <a:pt x="12188952" y="0"/>
                  </a:lnTo>
                  <a:close/>
                </a:path>
              </a:pathLst>
            </a:custGeom>
            <a:solidFill>
              <a:srgbClr val="E3831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/>
          <p:nvPr/>
        </p:nvSpPr>
        <p:spPr>
          <a:xfrm>
            <a:off x="1207008" y="4343400"/>
            <a:ext cx="9875520" cy="0"/>
          </a:xfrm>
          <a:custGeom>
            <a:avLst/>
            <a:gdLst/>
            <a:ahLst/>
            <a:cxnLst/>
            <a:rect l="l" t="t" r="r" b="b"/>
            <a:pathLst>
              <a:path w="9875520" h="0">
                <a:moveTo>
                  <a:pt x="0" y="0"/>
                </a:moveTo>
                <a:lnTo>
                  <a:pt x="9875520" y="0"/>
                </a:lnTo>
              </a:path>
            </a:pathLst>
          </a:custGeom>
          <a:ln w="6350">
            <a:solidFill>
              <a:srgbClr val="7E7E7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145844" y="3460826"/>
            <a:ext cx="8352155" cy="1031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600" spc="-110">
                <a:solidFill>
                  <a:srgbClr val="252525"/>
                </a:solidFill>
                <a:latin typeface="Calibri Light"/>
                <a:cs typeface="Calibri Light"/>
              </a:rPr>
              <a:t>R</a:t>
            </a:r>
            <a:r>
              <a:rPr dirty="0" sz="6600" spc="-100">
                <a:solidFill>
                  <a:srgbClr val="252525"/>
                </a:solidFill>
                <a:latin typeface="Calibri Light"/>
                <a:cs typeface="Calibri Light"/>
              </a:rPr>
              <a:t>a</a:t>
            </a:r>
            <a:r>
              <a:rPr dirty="0" sz="6600" spc="-110">
                <a:solidFill>
                  <a:srgbClr val="252525"/>
                </a:solidFill>
                <a:latin typeface="Calibri Light"/>
                <a:cs typeface="Calibri Light"/>
              </a:rPr>
              <a:t>n</a:t>
            </a:r>
            <a:r>
              <a:rPr dirty="0" sz="6600" spc="-120">
                <a:solidFill>
                  <a:srgbClr val="252525"/>
                </a:solidFill>
                <a:latin typeface="Calibri Light"/>
                <a:cs typeface="Calibri Light"/>
              </a:rPr>
              <a:t>d</a:t>
            </a:r>
            <a:r>
              <a:rPr dirty="0" sz="6600" spc="-110">
                <a:solidFill>
                  <a:srgbClr val="252525"/>
                </a:solidFill>
                <a:latin typeface="Calibri Light"/>
                <a:cs typeface="Calibri Light"/>
              </a:rPr>
              <a:t>o</a:t>
            </a:r>
            <a:r>
              <a:rPr dirty="0" sz="6600">
                <a:solidFill>
                  <a:srgbClr val="252525"/>
                </a:solidFill>
                <a:latin typeface="Calibri Light"/>
                <a:cs typeface="Calibri Light"/>
              </a:rPr>
              <a:t>m</a:t>
            </a:r>
            <a:r>
              <a:rPr dirty="0" sz="6600" spc="-275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dirty="0" sz="6600" spc="-195">
                <a:solidFill>
                  <a:srgbClr val="252525"/>
                </a:solidFill>
                <a:latin typeface="Calibri Light"/>
                <a:cs typeface="Calibri Light"/>
              </a:rPr>
              <a:t>F</a:t>
            </a:r>
            <a:r>
              <a:rPr dirty="0" sz="6600" spc="-100">
                <a:solidFill>
                  <a:srgbClr val="252525"/>
                </a:solidFill>
                <a:latin typeface="Calibri Light"/>
                <a:cs typeface="Calibri Light"/>
              </a:rPr>
              <a:t>o</a:t>
            </a:r>
            <a:r>
              <a:rPr dirty="0" sz="6600" spc="-190">
                <a:solidFill>
                  <a:srgbClr val="252525"/>
                </a:solidFill>
                <a:latin typeface="Calibri Light"/>
                <a:cs typeface="Calibri Light"/>
              </a:rPr>
              <a:t>r</a:t>
            </a:r>
            <a:r>
              <a:rPr dirty="0" sz="6600" spc="-110">
                <a:solidFill>
                  <a:srgbClr val="252525"/>
                </a:solidFill>
                <a:latin typeface="Calibri Light"/>
                <a:cs typeface="Calibri Light"/>
              </a:rPr>
              <a:t>e</a:t>
            </a:r>
            <a:r>
              <a:rPr dirty="0" sz="6600" spc="-180">
                <a:solidFill>
                  <a:srgbClr val="252525"/>
                </a:solidFill>
                <a:latin typeface="Calibri Light"/>
                <a:cs typeface="Calibri Light"/>
              </a:rPr>
              <a:t>s</a:t>
            </a:r>
            <a:r>
              <a:rPr dirty="0" sz="6600">
                <a:solidFill>
                  <a:srgbClr val="252525"/>
                </a:solidFill>
                <a:latin typeface="Calibri Light"/>
                <a:cs typeface="Calibri Light"/>
              </a:rPr>
              <a:t>t</a:t>
            </a:r>
            <a:r>
              <a:rPr dirty="0" sz="6600" spc="-21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dirty="0" sz="6600" spc="-110">
                <a:solidFill>
                  <a:srgbClr val="252525"/>
                </a:solidFill>
                <a:latin typeface="Calibri Light"/>
                <a:cs typeface="Calibri Light"/>
              </a:rPr>
              <a:t>A</a:t>
            </a:r>
            <a:r>
              <a:rPr dirty="0" sz="6600" spc="-65">
                <a:solidFill>
                  <a:srgbClr val="252525"/>
                </a:solidFill>
                <a:latin typeface="Calibri Light"/>
                <a:cs typeface="Calibri Light"/>
              </a:rPr>
              <a:t>l</a:t>
            </a:r>
            <a:r>
              <a:rPr dirty="0" sz="6600" spc="-145">
                <a:solidFill>
                  <a:srgbClr val="252525"/>
                </a:solidFill>
                <a:latin typeface="Calibri Light"/>
                <a:cs typeface="Calibri Light"/>
              </a:rPr>
              <a:t>g</a:t>
            </a:r>
            <a:r>
              <a:rPr dirty="0" sz="6600" spc="-110">
                <a:solidFill>
                  <a:srgbClr val="252525"/>
                </a:solidFill>
                <a:latin typeface="Calibri Light"/>
                <a:cs typeface="Calibri Light"/>
              </a:rPr>
              <a:t>o</a:t>
            </a:r>
            <a:r>
              <a:rPr dirty="0" sz="6600" spc="-95">
                <a:solidFill>
                  <a:srgbClr val="252525"/>
                </a:solidFill>
                <a:latin typeface="Calibri Light"/>
                <a:cs typeface="Calibri Light"/>
              </a:rPr>
              <a:t>r</a:t>
            </a:r>
            <a:r>
              <a:rPr dirty="0" sz="6600" spc="-80">
                <a:solidFill>
                  <a:srgbClr val="252525"/>
                </a:solidFill>
                <a:latin typeface="Calibri Light"/>
                <a:cs typeface="Calibri Light"/>
              </a:rPr>
              <a:t>i</a:t>
            </a:r>
            <a:r>
              <a:rPr dirty="0" sz="6600" spc="-100">
                <a:solidFill>
                  <a:srgbClr val="252525"/>
                </a:solidFill>
                <a:latin typeface="Calibri Light"/>
                <a:cs typeface="Calibri Light"/>
              </a:rPr>
              <a:t>t</a:t>
            </a:r>
            <a:r>
              <a:rPr dirty="0" sz="6600" spc="-120">
                <a:solidFill>
                  <a:srgbClr val="252525"/>
                </a:solidFill>
                <a:latin typeface="Calibri Light"/>
                <a:cs typeface="Calibri Light"/>
              </a:rPr>
              <a:t>h</a:t>
            </a:r>
            <a:r>
              <a:rPr dirty="0" sz="6600">
                <a:solidFill>
                  <a:srgbClr val="252525"/>
                </a:solidFill>
                <a:latin typeface="Calibri Light"/>
                <a:cs typeface="Calibri Light"/>
              </a:rPr>
              <a:t>m</a:t>
            </a:r>
            <a:endParaRPr sz="6600">
              <a:latin typeface="Calibri Light"/>
              <a:cs typeface="Calibri Ligh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76960" y="4647945"/>
            <a:ext cx="4157979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200">
                <a:solidFill>
                  <a:srgbClr val="626F52"/>
                </a:solidFill>
                <a:latin typeface="Calibri Light"/>
                <a:cs typeface="Calibri Light"/>
              </a:rPr>
              <a:t>L</a:t>
            </a:r>
            <a:r>
              <a:rPr dirty="0" sz="2400" spc="180">
                <a:solidFill>
                  <a:srgbClr val="626F52"/>
                </a:solidFill>
                <a:latin typeface="Calibri Light"/>
                <a:cs typeface="Calibri Light"/>
              </a:rPr>
              <a:t>E</a:t>
            </a:r>
            <a:r>
              <a:rPr dirty="0" sz="2400" spc="200">
                <a:solidFill>
                  <a:srgbClr val="626F52"/>
                </a:solidFill>
                <a:latin typeface="Calibri Light"/>
                <a:cs typeface="Calibri Light"/>
              </a:rPr>
              <a:t>C</a:t>
            </a:r>
            <a:r>
              <a:rPr dirty="0" sz="2400">
                <a:solidFill>
                  <a:srgbClr val="626F52"/>
                </a:solidFill>
                <a:latin typeface="Calibri Light"/>
                <a:cs typeface="Calibri Light"/>
              </a:rPr>
              <a:t>.</a:t>
            </a:r>
            <a:r>
              <a:rPr dirty="0" sz="2400" spc="-330">
                <a:solidFill>
                  <a:srgbClr val="626F52"/>
                </a:solidFill>
                <a:latin typeface="Calibri Light"/>
                <a:cs typeface="Calibri Light"/>
              </a:rPr>
              <a:t> </a:t>
            </a:r>
            <a:r>
              <a:rPr dirty="0" sz="2400" spc="204">
                <a:solidFill>
                  <a:srgbClr val="626F52"/>
                </a:solidFill>
                <a:latin typeface="Calibri Light"/>
                <a:cs typeface="Calibri Light"/>
              </a:rPr>
              <a:t>AS</a:t>
            </a:r>
            <a:r>
              <a:rPr dirty="0" sz="2400" spc="195">
                <a:solidFill>
                  <a:srgbClr val="626F52"/>
                </a:solidFill>
                <a:latin typeface="Calibri Light"/>
                <a:cs typeface="Calibri Light"/>
              </a:rPr>
              <a:t>S</a:t>
            </a:r>
            <a:r>
              <a:rPr dirty="0" sz="2400" spc="200">
                <a:solidFill>
                  <a:srgbClr val="626F52"/>
                </a:solidFill>
                <a:latin typeface="Calibri Light"/>
                <a:cs typeface="Calibri Light"/>
              </a:rPr>
              <a:t>I</a:t>
            </a:r>
            <a:r>
              <a:rPr dirty="0" sz="2400" spc="180">
                <a:solidFill>
                  <a:srgbClr val="626F52"/>
                </a:solidFill>
                <a:latin typeface="Calibri Light"/>
                <a:cs typeface="Calibri Light"/>
              </a:rPr>
              <a:t>S</a:t>
            </a:r>
            <a:r>
              <a:rPr dirty="0" sz="2400">
                <a:solidFill>
                  <a:srgbClr val="626F52"/>
                </a:solidFill>
                <a:latin typeface="Calibri Light"/>
                <a:cs typeface="Calibri Light"/>
              </a:rPr>
              <a:t>T </a:t>
            </a:r>
            <a:r>
              <a:rPr dirty="0" sz="2400" spc="-160">
                <a:solidFill>
                  <a:srgbClr val="626F52"/>
                </a:solidFill>
                <a:latin typeface="Calibri Light"/>
                <a:cs typeface="Calibri Light"/>
              </a:rPr>
              <a:t> </a:t>
            </a:r>
            <a:r>
              <a:rPr dirty="0" sz="2400">
                <a:solidFill>
                  <a:srgbClr val="626F52"/>
                </a:solidFill>
                <a:latin typeface="Calibri Light"/>
                <a:cs typeface="Calibri Light"/>
              </a:rPr>
              <a:t>: </a:t>
            </a:r>
            <a:r>
              <a:rPr dirty="0" sz="2400" spc="-165">
                <a:solidFill>
                  <a:srgbClr val="626F52"/>
                </a:solidFill>
                <a:latin typeface="Calibri Light"/>
                <a:cs typeface="Calibri Light"/>
              </a:rPr>
              <a:t> </a:t>
            </a:r>
            <a:r>
              <a:rPr dirty="0" sz="2400" spc="204">
                <a:solidFill>
                  <a:srgbClr val="626F52"/>
                </a:solidFill>
                <a:latin typeface="Calibri Light"/>
                <a:cs typeface="Calibri Light"/>
              </a:rPr>
              <a:t>A</a:t>
            </a:r>
            <a:r>
              <a:rPr dirty="0" sz="2400" spc="200">
                <a:solidFill>
                  <a:srgbClr val="626F52"/>
                </a:solidFill>
                <a:latin typeface="Calibri Light"/>
                <a:cs typeface="Calibri Light"/>
              </a:rPr>
              <a:t>HME</a:t>
            </a:r>
            <a:r>
              <a:rPr dirty="0" sz="2400">
                <a:solidFill>
                  <a:srgbClr val="626F52"/>
                </a:solidFill>
                <a:latin typeface="Calibri Light"/>
                <a:cs typeface="Calibri Light"/>
              </a:rPr>
              <a:t>D </a:t>
            </a:r>
            <a:r>
              <a:rPr dirty="0" sz="2400" spc="-175">
                <a:solidFill>
                  <a:srgbClr val="626F52"/>
                </a:solidFill>
                <a:latin typeface="Calibri Light"/>
                <a:cs typeface="Calibri Light"/>
              </a:rPr>
              <a:t> </a:t>
            </a:r>
            <a:r>
              <a:rPr dirty="0" sz="2400" spc="130">
                <a:solidFill>
                  <a:srgbClr val="626F52"/>
                </a:solidFill>
                <a:latin typeface="Calibri Light"/>
                <a:cs typeface="Calibri Light"/>
              </a:rPr>
              <a:t>Y</a:t>
            </a:r>
            <a:r>
              <a:rPr dirty="0" sz="2400" spc="200">
                <a:solidFill>
                  <a:srgbClr val="626F52"/>
                </a:solidFill>
                <a:latin typeface="Calibri Light"/>
                <a:cs typeface="Calibri Light"/>
              </a:rPr>
              <a:t>O</a:t>
            </a:r>
            <a:r>
              <a:rPr dirty="0" sz="2400" spc="195">
                <a:solidFill>
                  <a:srgbClr val="626F52"/>
                </a:solidFill>
                <a:latin typeface="Calibri Light"/>
                <a:cs typeface="Calibri Light"/>
              </a:rPr>
              <a:t>U</a:t>
            </a:r>
            <a:r>
              <a:rPr dirty="0" sz="2400" spc="204">
                <a:solidFill>
                  <a:srgbClr val="626F52"/>
                </a:solidFill>
                <a:latin typeface="Calibri Light"/>
                <a:cs typeface="Calibri Light"/>
              </a:rPr>
              <a:t>S</a:t>
            </a:r>
            <a:r>
              <a:rPr dirty="0" sz="2400" spc="170">
                <a:solidFill>
                  <a:srgbClr val="626F52"/>
                </a:solidFill>
                <a:latin typeface="Calibri Light"/>
                <a:cs typeface="Calibri Light"/>
              </a:rPr>
              <a:t>R</a:t>
            </a:r>
            <a:r>
              <a:rPr dirty="0" sz="2400">
                <a:solidFill>
                  <a:srgbClr val="626F52"/>
                </a:solidFill>
                <a:latin typeface="Calibri Light"/>
                <a:cs typeface="Calibri Light"/>
              </a:rPr>
              <a:t>Y</a:t>
            </a:r>
            <a:endParaRPr sz="2400">
              <a:latin typeface="Calibri Light"/>
              <a:cs typeface="Calibri Light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3772" y="697991"/>
            <a:ext cx="9607296" cy="27310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324" y="908380"/>
            <a:ext cx="5485765" cy="7575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0"/>
              <a:t>What</a:t>
            </a:r>
            <a:r>
              <a:rPr dirty="0" spc="-125"/>
              <a:t> </a:t>
            </a:r>
            <a:r>
              <a:rPr dirty="0" spc="-30"/>
              <a:t>is</a:t>
            </a:r>
            <a:r>
              <a:rPr dirty="0" spc="-110"/>
              <a:t> </a:t>
            </a:r>
            <a:r>
              <a:rPr dirty="0" spc="-45"/>
              <a:t>Random</a:t>
            </a:r>
            <a:r>
              <a:rPr dirty="0" spc="-135"/>
              <a:t> </a:t>
            </a:r>
            <a:r>
              <a:rPr dirty="0" spc="-80"/>
              <a:t>forest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71625" y="2067371"/>
            <a:ext cx="9356090" cy="2477770"/>
          </a:xfrm>
          <a:prstGeom prst="rect">
            <a:avLst/>
          </a:prstGeom>
        </p:spPr>
        <p:txBody>
          <a:bodyPr wrap="square" lIns="0" tIns="147955" rIns="0" bIns="0" rtlCol="0" vert="horz">
            <a:spAutoFit/>
          </a:bodyPr>
          <a:lstStyle/>
          <a:p>
            <a:pPr marL="428625" indent="-416559">
              <a:lnSpc>
                <a:spcPct val="100000"/>
              </a:lnSpc>
              <a:spcBef>
                <a:spcPts val="1165"/>
              </a:spcBef>
              <a:buClr>
                <a:srgbClr val="E38312"/>
              </a:buClr>
              <a:buFont typeface="Wingdings"/>
              <a:buChar char=""/>
              <a:tabLst>
                <a:tab pos="429259" algn="l"/>
              </a:tabLst>
            </a:pPr>
            <a:r>
              <a:rPr dirty="0" sz="2800" spc="-5">
                <a:solidFill>
                  <a:srgbClr val="404040"/>
                </a:solidFill>
                <a:latin typeface="Calibri"/>
                <a:cs typeface="Calibri"/>
              </a:rPr>
              <a:t>Random</a:t>
            </a:r>
            <a:r>
              <a:rPr dirty="0" sz="280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 spc="-30">
                <a:solidFill>
                  <a:srgbClr val="404040"/>
                </a:solidFill>
                <a:latin typeface="Calibri"/>
                <a:cs typeface="Calibri"/>
              </a:rPr>
              <a:t>forest</a:t>
            </a:r>
            <a:r>
              <a:rPr dirty="0" sz="2800" spc="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 spc="-5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dirty="0" sz="280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 spc="-5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dirty="0" sz="2800" spc="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04040"/>
                </a:solidFill>
                <a:latin typeface="Calibri"/>
                <a:cs typeface="Calibri"/>
              </a:rPr>
              <a:t>supervised</a:t>
            </a:r>
            <a:r>
              <a:rPr dirty="0" sz="2800" spc="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 spc="-5">
                <a:solidFill>
                  <a:srgbClr val="404040"/>
                </a:solidFill>
                <a:latin typeface="Calibri"/>
                <a:cs typeface="Calibri"/>
              </a:rPr>
              <a:t>learning</a:t>
            </a:r>
            <a:r>
              <a:rPr dirty="0" sz="2800" spc="1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04040"/>
                </a:solidFill>
                <a:latin typeface="Calibri"/>
                <a:cs typeface="Calibri"/>
              </a:rPr>
              <a:t>algorithm.</a:t>
            </a:r>
            <a:endParaRPr sz="2800">
              <a:latin typeface="Calibri"/>
              <a:cs typeface="Calibri"/>
            </a:endParaRPr>
          </a:p>
          <a:p>
            <a:pPr marL="103505" marR="5080" indent="-91440">
              <a:lnSpc>
                <a:spcPts val="3000"/>
              </a:lnSpc>
              <a:spcBef>
                <a:spcPts val="1465"/>
              </a:spcBef>
              <a:buClr>
                <a:srgbClr val="E38312"/>
              </a:buClr>
              <a:buFont typeface="Wingdings"/>
              <a:buChar char=""/>
              <a:tabLst>
                <a:tab pos="429259" algn="l"/>
              </a:tabLst>
            </a:pPr>
            <a:r>
              <a:rPr dirty="0" sz="2800" spc="-5">
                <a:solidFill>
                  <a:srgbClr val="404040"/>
                </a:solidFill>
                <a:latin typeface="Calibri"/>
                <a:cs typeface="Calibri"/>
              </a:rPr>
              <a:t>The </a:t>
            </a:r>
            <a:r>
              <a:rPr dirty="0" sz="2800" spc="-20">
                <a:solidFill>
                  <a:srgbClr val="404040"/>
                </a:solidFill>
                <a:latin typeface="Calibri"/>
                <a:cs typeface="Calibri"/>
              </a:rPr>
              <a:t>"forest"</a:t>
            </a:r>
            <a:r>
              <a:rPr dirty="0" sz="2800" spc="1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 spc="-5">
                <a:solidFill>
                  <a:srgbClr val="404040"/>
                </a:solidFill>
                <a:latin typeface="Calibri"/>
                <a:cs typeface="Calibri"/>
              </a:rPr>
              <a:t>it</a:t>
            </a:r>
            <a:r>
              <a:rPr dirty="0" sz="2800" spc="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04040"/>
                </a:solidFill>
                <a:latin typeface="Calibri"/>
                <a:cs typeface="Calibri"/>
              </a:rPr>
              <a:t>builds,</a:t>
            </a:r>
            <a:r>
              <a:rPr dirty="0" sz="2800" spc="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 spc="-5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dirty="0" sz="280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 spc="-5">
                <a:solidFill>
                  <a:srgbClr val="404040"/>
                </a:solidFill>
                <a:latin typeface="Calibri"/>
                <a:cs typeface="Calibri"/>
              </a:rPr>
              <a:t>an</a:t>
            </a:r>
            <a:r>
              <a:rPr dirty="0" sz="280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 spc="-5">
                <a:solidFill>
                  <a:srgbClr val="404040"/>
                </a:solidFill>
                <a:latin typeface="Calibri"/>
                <a:cs typeface="Calibri"/>
              </a:rPr>
              <a:t>ensemble</a:t>
            </a:r>
            <a:r>
              <a:rPr dirty="0" sz="2800" spc="1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 spc="-5">
                <a:solidFill>
                  <a:srgbClr val="404040"/>
                </a:solidFill>
                <a:latin typeface="Calibri"/>
                <a:cs typeface="Calibri"/>
              </a:rPr>
              <a:t>of decision</a:t>
            </a:r>
            <a:r>
              <a:rPr dirty="0" sz="2800" spc="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04040"/>
                </a:solidFill>
                <a:latin typeface="Calibri"/>
                <a:cs typeface="Calibri"/>
              </a:rPr>
              <a:t>trees,</a:t>
            </a:r>
            <a:r>
              <a:rPr dirty="0" sz="2800" spc="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04040"/>
                </a:solidFill>
                <a:latin typeface="Calibri"/>
                <a:cs typeface="Calibri"/>
              </a:rPr>
              <a:t>usually </a:t>
            </a:r>
            <a:r>
              <a:rPr dirty="0" sz="2800" spc="-61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 spc="-15">
                <a:solidFill>
                  <a:srgbClr val="404040"/>
                </a:solidFill>
                <a:latin typeface="Calibri"/>
                <a:cs typeface="Calibri"/>
              </a:rPr>
              <a:t>trained</a:t>
            </a:r>
            <a:r>
              <a:rPr dirty="0" sz="2800" spc="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 spc="-5">
                <a:solidFill>
                  <a:srgbClr val="404040"/>
                </a:solidFill>
                <a:latin typeface="Calibri"/>
                <a:cs typeface="Calibri"/>
              </a:rPr>
              <a:t>with</a:t>
            </a:r>
            <a:r>
              <a:rPr dirty="0" sz="2800" spc="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 spc="-5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dirty="0" sz="2800" spc="1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 spc="10">
                <a:solidFill>
                  <a:srgbClr val="404040"/>
                </a:solidFill>
                <a:latin typeface="Calibri"/>
                <a:cs typeface="Calibri"/>
              </a:rPr>
              <a:t>“bagging” </a:t>
            </a:r>
            <a:r>
              <a:rPr dirty="0" sz="2800" spc="-5">
                <a:solidFill>
                  <a:srgbClr val="404040"/>
                </a:solidFill>
                <a:latin typeface="Calibri"/>
                <a:cs typeface="Calibri"/>
              </a:rPr>
              <a:t>method.</a:t>
            </a:r>
            <a:endParaRPr sz="2800">
              <a:latin typeface="Calibri"/>
              <a:cs typeface="Calibri"/>
            </a:endParaRPr>
          </a:p>
          <a:p>
            <a:pPr marL="103505" marR="47625" indent="-91440">
              <a:lnSpc>
                <a:spcPts val="3000"/>
              </a:lnSpc>
              <a:spcBef>
                <a:spcPts val="1455"/>
              </a:spcBef>
              <a:buClr>
                <a:srgbClr val="E38312"/>
              </a:buClr>
              <a:buFont typeface="Wingdings"/>
              <a:buChar char=""/>
              <a:tabLst>
                <a:tab pos="429259" algn="l"/>
              </a:tabLst>
            </a:pPr>
            <a:r>
              <a:rPr dirty="0" sz="2800" spc="-10">
                <a:solidFill>
                  <a:srgbClr val="404040"/>
                </a:solidFill>
                <a:latin typeface="Calibri"/>
                <a:cs typeface="Calibri"/>
              </a:rPr>
              <a:t>The </a:t>
            </a:r>
            <a:r>
              <a:rPr dirty="0" sz="2800" spc="-15">
                <a:solidFill>
                  <a:srgbClr val="404040"/>
                </a:solidFill>
                <a:latin typeface="Calibri"/>
                <a:cs typeface="Calibri"/>
              </a:rPr>
              <a:t>general</a:t>
            </a:r>
            <a:r>
              <a:rPr dirty="0" sz="2800" spc="-5">
                <a:solidFill>
                  <a:srgbClr val="404040"/>
                </a:solidFill>
                <a:latin typeface="Calibri"/>
                <a:cs typeface="Calibri"/>
              </a:rPr>
              <a:t> idea</a:t>
            </a:r>
            <a:r>
              <a:rPr dirty="0" sz="2800" spc="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 spc="-5">
                <a:solidFill>
                  <a:srgbClr val="404040"/>
                </a:solidFill>
                <a:latin typeface="Calibri"/>
                <a:cs typeface="Calibri"/>
              </a:rPr>
              <a:t>of the</a:t>
            </a:r>
            <a:r>
              <a:rPr dirty="0" sz="2800" spc="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 spc="-5">
                <a:solidFill>
                  <a:srgbClr val="404040"/>
                </a:solidFill>
                <a:latin typeface="Calibri"/>
                <a:cs typeface="Calibri"/>
              </a:rPr>
              <a:t>bagging</a:t>
            </a:r>
            <a:r>
              <a:rPr dirty="0" sz="2800" spc="-1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 spc="-5">
                <a:solidFill>
                  <a:srgbClr val="404040"/>
                </a:solidFill>
                <a:latin typeface="Calibri"/>
                <a:cs typeface="Calibri"/>
              </a:rPr>
              <a:t>method</a:t>
            </a:r>
            <a:r>
              <a:rPr dirty="0" sz="2800" spc="1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 spc="-5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dirty="0" sz="280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04040"/>
                </a:solidFill>
                <a:latin typeface="Calibri"/>
                <a:cs typeface="Calibri"/>
              </a:rPr>
              <a:t>that</a:t>
            </a:r>
            <a:r>
              <a:rPr dirty="0" sz="2800" spc="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 spc="-5">
                <a:solidFill>
                  <a:srgbClr val="404040"/>
                </a:solidFill>
                <a:latin typeface="Calibri"/>
                <a:cs typeface="Calibri"/>
              </a:rPr>
              <a:t>a </a:t>
            </a:r>
            <a:r>
              <a:rPr dirty="0" sz="2800" spc="-10">
                <a:solidFill>
                  <a:srgbClr val="404040"/>
                </a:solidFill>
                <a:latin typeface="Calibri"/>
                <a:cs typeface="Calibri"/>
              </a:rPr>
              <a:t>combination </a:t>
            </a:r>
            <a:r>
              <a:rPr dirty="0" sz="2800" spc="-61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 spc="-5">
                <a:solidFill>
                  <a:srgbClr val="404040"/>
                </a:solidFill>
                <a:latin typeface="Calibri"/>
                <a:cs typeface="Calibri"/>
              </a:rPr>
              <a:t>of learning</a:t>
            </a:r>
            <a:r>
              <a:rPr dirty="0" sz="2800" spc="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 spc="-5">
                <a:solidFill>
                  <a:srgbClr val="404040"/>
                </a:solidFill>
                <a:latin typeface="Calibri"/>
                <a:cs typeface="Calibri"/>
              </a:rPr>
              <a:t>models</a:t>
            </a:r>
            <a:r>
              <a:rPr dirty="0" sz="2800" spc="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04040"/>
                </a:solidFill>
                <a:latin typeface="Calibri"/>
                <a:cs typeface="Calibri"/>
              </a:rPr>
              <a:t>increases</a:t>
            </a:r>
            <a:r>
              <a:rPr dirty="0" sz="2800" spc="1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 spc="-5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dirty="0" sz="2800" spc="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04040"/>
                </a:solidFill>
                <a:latin typeface="Calibri"/>
                <a:cs typeface="Calibri"/>
              </a:rPr>
              <a:t>overall</a:t>
            </a:r>
            <a:r>
              <a:rPr dirty="0" sz="2800" spc="-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 spc="-15">
                <a:solidFill>
                  <a:srgbClr val="404040"/>
                </a:solidFill>
                <a:latin typeface="Calibri"/>
                <a:cs typeface="Calibri"/>
              </a:rPr>
              <a:t>result.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324" y="908380"/>
            <a:ext cx="3133090" cy="7575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40"/>
              <a:t>How</a:t>
            </a:r>
            <a:r>
              <a:rPr dirty="0" spc="-155"/>
              <a:t> </a:t>
            </a:r>
            <a:r>
              <a:rPr dirty="0" spc="-30"/>
              <a:t>it</a:t>
            </a:r>
            <a:r>
              <a:rPr dirty="0" spc="-135"/>
              <a:t> </a:t>
            </a:r>
            <a:r>
              <a:rPr dirty="0" spc="-60"/>
              <a:t>works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4580" y="2329052"/>
            <a:ext cx="9923145" cy="2166620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104139" marR="26670" indent="-92075">
              <a:lnSpc>
                <a:spcPts val="3020"/>
              </a:lnSpc>
              <a:spcBef>
                <a:spcPts val="480"/>
              </a:spcBef>
              <a:buClr>
                <a:srgbClr val="E38312"/>
              </a:buClr>
              <a:buFont typeface="Wingdings"/>
              <a:buChar char=""/>
              <a:tabLst>
                <a:tab pos="410845" algn="l"/>
              </a:tabLst>
            </a:pPr>
            <a:r>
              <a:rPr dirty="0" sz="2800" spc="-10">
                <a:solidFill>
                  <a:srgbClr val="FF0000"/>
                </a:solidFill>
                <a:latin typeface="Calibri"/>
                <a:cs typeface="Calibri"/>
              </a:rPr>
              <a:t>Put</a:t>
            </a:r>
            <a:r>
              <a:rPr dirty="0" sz="2800" spc="2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FF0000"/>
                </a:solidFill>
                <a:latin typeface="Calibri"/>
                <a:cs typeface="Calibri"/>
              </a:rPr>
              <a:t>simply:</a:t>
            </a:r>
            <a:r>
              <a:rPr dirty="0" sz="2800" spc="3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R</a:t>
            </a:r>
            <a:r>
              <a:rPr dirty="0" sz="2800" spc="-5">
                <a:solidFill>
                  <a:srgbClr val="404040"/>
                </a:solidFill>
                <a:latin typeface="Calibri"/>
                <a:cs typeface="Calibri"/>
              </a:rPr>
              <a:t>andom</a:t>
            </a:r>
            <a:r>
              <a:rPr dirty="0" sz="2800" spc="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 spc="-30">
                <a:solidFill>
                  <a:srgbClr val="404040"/>
                </a:solidFill>
                <a:latin typeface="Calibri"/>
                <a:cs typeface="Calibri"/>
              </a:rPr>
              <a:t>forest</a:t>
            </a:r>
            <a:r>
              <a:rPr dirty="0" sz="2800" spc="1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04040"/>
                </a:solidFill>
                <a:latin typeface="Calibri"/>
                <a:cs typeface="Calibri"/>
              </a:rPr>
              <a:t>builds</a:t>
            </a:r>
            <a:r>
              <a:rPr dirty="0" sz="2800" spc="4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04040"/>
                </a:solidFill>
                <a:latin typeface="Calibri"/>
                <a:cs typeface="Calibri"/>
              </a:rPr>
              <a:t>multiple</a:t>
            </a:r>
            <a:r>
              <a:rPr dirty="0" sz="2800" spc="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04040"/>
                </a:solidFill>
                <a:latin typeface="Calibri"/>
                <a:cs typeface="Calibri"/>
              </a:rPr>
              <a:t>decision</a:t>
            </a:r>
            <a:r>
              <a:rPr dirty="0" sz="2800" spc="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04040"/>
                </a:solidFill>
                <a:latin typeface="Calibri"/>
                <a:cs typeface="Calibri"/>
              </a:rPr>
              <a:t>trees</a:t>
            </a:r>
            <a:r>
              <a:rPr dirty="0" sz="2800" spc="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 spc="-5">
                <a:solidFill>
                  <a:srgbClr val="404040"/>
                </a:solidFill>
                <a:latin typeface="Calibri"/>
                <a:cs typeface="Calibri"/>
              </a:rPr>
              <a:t>and </a:t>
            </a:r>
            <a:r>
              <a:rPr dirty="0" sz="280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 spc="-15">
                <a:solidFill>
                  <a:srgbClr val="404040"/>
                </a:solidFill>
                <a:latin typeface="Calibri"/>
                <a:cs typeface="Calibri"/>
              </a:rPr>
              <a:t>merges</a:t>
            </a:r>
            <a:r>
              <a:rPr dirty="0" sz="2800" spc="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 spc="-5">
                <a:solidFill>
                  <a:srgbClr val="404040"/>
                </a:solidFill>
                <a:latin typeface="Calibri"/>
                <a:cs typeface="Calibri"/>
              </a:rPr>
              <a:t>them</a:t>
            </a:r>
            <a:r>
              <a:rPr dirty="0" sz="2800" spc="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 spc="-15">
                <a:solidFill>
                  <a:srgbClr val="404040"/>
                </a:solidFill>
                <a:latin typeface="Calibri"/>
                <a:cs typeface="Calibri"/>
              </a:rPr>
              <a:t>together</a:t>
            </a:r>
            <a:r>
              <a:rPr dirty="0" sz="2800" spc="-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 spc="-15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dirty="0" sz="280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 spc="-15">
                <a:solidFill>
                  <a:srgbClr val="404040"/>
                </a:solidFill>
                <a:latin typeface="Calibri"/>
                <a:cs typeface="Calibri"/>
              </a:rPr>
              <a:t>get</a:t>
            </a:r>
            <a:r>
              <a:rPr dirty="0" sz="280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 spc="-5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dirty="0" sz="280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 spc="-15">
                <a:solidFill>
                  <a:srgbClr val="404040"/>
                </a:solidFill>
                <a:latin typeface="Calibri"/>
                <a:cs typeface="Calibri"/>
              </a:rPr>
              <a:t>more</a:t>
            </a:r>
            <a:r>
              <a:rPr dirty="0" sz="2800" spc="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04040"/>
                </a:solidFill>
                <a:latin typeface="Calibri"/>
                <a:cs typeface="Calibri"/>
              </a:rPr>
              <a:t>accurate</a:t>
            </a:r>
            <a:r>
              <a:rPr dirty="0" sz="2800" spc="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 spc="-5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dirty="0" sz="2800" spc="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 spc="-15">
                <a:solidFill>
                  <a:srgbClr val="404040"/>
                </a:solidFill>
                <a:latin typeface="Calibri"/>
                <a:cs typeface="Calibri"/>
              </a:rPr>
              <a:t>stable</a:t>
            </a:r>
            <a:r>
              <a:rPr dirty="0" sz="2800" spc="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04040"/>
                </a:solidFill>
                <a:latin typeface="Calibri"/>
                <a:cs typeface="Calibri"/>
              </a:rPr>
              <a:t>prediction.</a:t>
            </a:r>
            <a:endParaRPr sz="2800">
              <a:latin typeface="Calibri"/>
              <a:cs typeface="Calibri"/>
            </a:endParaRPr>
          </a:p>
          <a:p>
            <a:pPr marL="104139" marR="5080" indent="-92075">
              <a:lnSpc>
                <a:spcPct val="90000"/>
              </a:lnSpc>
              <a:spcBef>
                <a:spcPts val="1360"/>
              </a:spcBef>
              <a:buClr>
                <a:srgbClr val="E38312"/>
              </a:buClr>
              <a:buFont typeface="Wingdings"/>
              <a:buChar char=""/>
              <a:tabLst>
                <a:tab pos="410845" algn="l"/>
              </a:tabLst>
            </a:pPr>
            <a:r>
              <a:rPr dirty="0" sz="2800" spc="-10">
                <a:solidFill>
                  <a:srgbClr val="404040"/>
                </a:solidFill>
                <a:latin typeface="Calibri"/>
                <a:cs typeface="Calibri"/>
              </a:rPr>
              <a:t>One</a:t>
            </a:r>
            <a:r>
              <a:rPr dirty="0" sz="280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04040"/>
                </a:solidFill>
                <a:latin typeface="Calibri"/>
                <a:cs typeface="Calibri"/>
              </a:rPr>
              <a:t>big</a:t>
            </a:r>
            <a:r>
              <a:rPr dirty="0" sz="2800" spc="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04040"/>
                </a:solidFill>
                <a:latin typeface="Calibri"/>
                <a:cs typeface="Calibri"/>
              </a:rPr>
              <a:t>advantage</a:t>
            </a:r>
            <a:r>
              <a:rPr dirty="0" sz="2800" spc="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 spc="-5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dirty="0" sz="280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 spc="-15">
                <a:solidFill>
                  <a:srgbClr val="404040"/>
                </a:solidFill>
                <a:latin typeface="Calibri"/>
                <a:cs typeface="Calibri"/>
              </a:rPr>
              <a:t>random</a:t>
            </a:r>
            <a:r>
              <a:rPr dirty="0" sz="2800" spc="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 spc="-30">
                <a:solidFill>
                  <a:srgbClr val="404040"/>
                </a:solidFill>
                <a:latin typeface="Calibri"/>
                <a:cs typeface="Calibri"/>
              </a:rPr>
              <a:t>forest</a:t>
            </a:r>
            <a:r>
              <a:rPr dirty="0" sz="2800" spc="1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 spc="-5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dirty="0" sz="280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04040"/>
                </a:solidFill>
                <a:latin typeface="Calibri"/>
                <a:cs typeface="Calibri"/>
              </a:rPr>
              <a:t>that</a:t>
            </a:r>
            <a:r>
              <a:rPr dirty="0" sz="280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 spc="-5">
                <a:solidFill>
                  <a:srgbClr val="404040"/>
                </a:solidFill>
                <a:latin typeface="Calibri"/>
                <a:cs typeface="Calibri"/>
              </a:rPr>
              <a:t>it</a:t>
            </a:r>
            <a:r>
              <a:rPr dirty="0" sz="2800" spc="1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04040"/>
                </a:solidFill>
                <a:latin typeface="Calibri"/>
                <a:cs typeface="Calibri"/>
              </a:rPr>
              <a:t>can</a:t>
            </a:r>
            <a:r>
              <a:rPr dirty="0" sz="2800" spc="-5">
                <a:solidFill>
                  <a:srgbClr val="404040"/>
                </a:solidFill>
                <a:latin typeface="Calibri"/>
                <a:cs typeface="Calibri"/>
              </a:rPr>
              <a:t> be</a:t>
            </a:r>
            <a:r>
              <a:rPr dirty="0" sz="2800" spc="1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04040"/>
                </a:solidFill>
                <a:latin typeface="Calibri"/>
                <a:cs typeface="Calibri"/>
              </a:rPr>
              <a:t>used</a:t>
            </a:r>
            <a:r>
              <a:rPr dirty="0" sz="2800" spc="1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dirty="0" sz="2800" spc="-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04040"/>
                </a:solidFill>
                <a:latin typeface="Calibri"/>
                <a:cs typeface="Calibri"/>
              </a:rPr>
              <a:t>both </a:t>
            </a:r>
            <a:r>
              <a:rPr dirty="0" sz="2800" spc="-61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04040"/>
                </a:solidFill>
                <a:latin typeface="Calibri"/>
                <a:cs typeface="Calibri"/>
              </a:rPr>
              <a:t>classification</a:t>
            </a:r>
            <a:r>
              <a:rPr dirty="0" sz="2800" spc="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 spc="-5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dirty="0" sz="2800" spc="1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 spc="-15">
                <a:solidFill>
                  <a:srgbClr val="404040"/>
                </a:solidFill>
                <a:latin typeface="Calibri"/>
                <a:cs typeface="Calibri"/>
              </a:rPr>
              <a:t>regression</a:t>
            </a:r>
            <a:r>
              <a:rPr dirty="0" sz="2800" spc="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 spc="-15">
                <a:solidFill>
                  <a:srgbClr val="404040"/>
                </a:solidFill>
                <a:latin typeface="Calibri"/>
                <a:cs typeface="Calibri"/>
              </a:rPr>
              <a:t>problems,</a:t>
            </a:r>
            <a:r>
              <a:rPr dirty="0" sz="2800" spc="4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 spc="-5">
                <a:solidFill>
                  <a:srgbClr val="404040"/>
                </a:solidFill>
                <a:latin typeface="Calibri"/>
                <a:cs typeface="Calibri"/>
              </a:rPr>
              <a:t>which</a:t>
            </a:r>
            <a:r>
              <a:rPr dirty="0" sz="2800" spc="3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04040"/>
                </a:solidFill>
                <a:latin typeface="Calibri"/>
                <a:cs typeface="Calibri"/>
              </a:rPr>
              <a:t>form</a:t>
            </a:r>
            <a:r>
              <a:rPr dirty="0" sz="280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dirty="0" sz="2800" spc="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 spc="-5">
                <a:solidFill>
                  <a:srgbClr val="404040"/>
                </a:solidFill>
                <a:latin typeface="Calibri"/>
                <a:cs typeface="Calibri"/>
              </a:rPr>
              <a:t>majority</a:t>
            </a:r>
            <a:r>
              <a:rPr dirty="0" sz="2800" spc="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 spc="-5">
                <a:solidFill>
                  <a:srgbClr val="404040"/>
                </a:solidFill>
                <a:latin typeface="Calibri"/>
                <a:cs typeface="Calibri"/>
              </a:rPr>
              <a:t>of </a:t>
            </a:r>
            <a:r>
              <a:rPr dirty="0" sz="280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 spc="-15">
                <a:solidFill>
                  <a:srgbClr val="404040"/>
                </a:solidFill>
                <a:latin typeface="Calibri"/>
                <a:cs typeface="Calibri"/>
              </a:rPr>
              <a:t>current</a:t>
            </a:r>
            <a:r>
              <a:rPr dirty="0" sz="2800" spc="1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 spc="-5">
                <a:solidFill>
                  <a:srgbClr val="404040"/>
                </a:solidFill>
                <a:latin typeface="Calibri"/>
                <a:cs typeface="Calibri"/>
              </a:rPr>
              <a:t>machine</a:t>
            </a:r>
            <a:r>
              <a:rPr dirty="0" sz="2800" spc="1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 spc="-5">
                <a:solidFill>
                  <a:srgbClr val="404040"/>
                </a:solidFill>
                <a:latin typeface="Calibri"/>
                <a:cs typeface="Calibri"/>
              </a:rPr>
              <a:t>learning</a:t>
            </a:r>
            <a:r>
              <a:rPr dirty="0" sz="280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04040"/>
                </a:solidFill>
                <a:latin typeface="Calibri"/>
                <a:cs typeface="Calibri"/>
              </a:rPr>
              <a:t>systems.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324" y="908380"/>
            <a:ext cx="7151370" cy="7575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60"/>
              <a:t>Example</a:t>
            </a:r>
            <a:r>
              <a:rPr dirty="0" spc="-95"/>
              <a:t> </a:t>
            </a:r>
            <a:r>
              <a:rPr dirty="0" spc="-25"/>
              <a:t>of</a:t>
            </a:r>
            <a:r>
              <a:rPr dirty="0" spc="-125"/>
              <a:t> </a:t>
            </a:r>
            <a:r>
              <a:rPr dirty="0" spc="-50"/>
              <a:t>two</a:t>
            </a:r>
            <a:r>
              <a:rPr dirty="0" spc="-130"/>
              <a:t> </a:t>
            </a:r>
            <a:r>
              <a:rPr dirty="0" spc="-45"/>
              <a:t>Decision</a:t>
            </a:r>
            <a:r>
              <a:rPr dirty="0" spc="-114"/>
              <a:t> </a:t>
            </a:r>
            <a:r>
              <a:rPr dirty="0" spc="-55"/>
              <a:t>tress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69163" y="0"/>
            <a:ext cx="11145520" cy="6324600"/>
            <a:chOff x="169163" y="0"/>
            <a:chExt cx="11145520" cy="63246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9865" y="2281508"/>
              <a:ext cx="5486614" cy="372914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9163" y="0"/>
              <a:ext cx="11145012" cy="63246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66416" y="806195"/>
            <a:ext cx="7059168" cy="478231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8763" y="387095"/>
            <a:ext cx="10634472" cy="548182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324" y="908380"/>
            <a:ext cx="7277100" cy="7575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75"/>
              <a:t>Difference</a:t>
            </a:r>
            <a:r>
              <a:rPr dirty="0" spc="-120"/>
              <a:t> </a:t>
            </a:r>
            <a:r>
              <a:rPr dirty="0" spc="-55"/>
              <a:t>between</a:t>
            </a:r>
            <a:r>
              <a:rPr dirty="0" spc="-120"/>
              <a:t> </a:t>
            </a:r>
            <a:r>
              <a:rPr dirty="0" spc="-50"/>
              <a:t>DT</a:t>
            </a:r>
            <a:r>
              <a:rPr dirty="0" spc="-114"/>
              <a:t> </a:t>
            </a:r>
            <a:r>
              <a:rPr dirty="0" spc="-35"/>
              <a:t>and</a:t>
            </a:r>
            <a:r>
              <a:rPr dirty="0" spc="-80"/>
              <a:t> </a:t>
            </a:r>
            <a:r>
              <a:rPr dirty="0" spc="-25"/>
              <a:t>RF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60960" rIns="0" bIns="0" rtlCol="0" vert="horz">
            <a:spAutoFit/>
          </a:bodyPr>
          <a:lstStyle/>
          <a:p>
            <a:pPr marL="287020" marR="130175" indent="-92075">
              <a:lnSpc>
                <a:spcPts val="3020"/>
              </a:lnSpc>
              <a:spcBef>
                <a:spcPts val="480"/>
              </a:spcBef>
              <a:buClr>
                <a:srgbClr val="E38312"/>
              </a:buClr>
              <a:buFont typeface="Wingdings"/>
              <a:buChar char=""/>
              <a:tabLst>
                <a:tab pos="593725" algn="l"/>
              </a:tabLst>
            </a:pPr>
            <a:r>
              <a:rPr dirty="0" spc="-10"/>
              <a:t>The</a:t>
            </a:r>
            <a:r>
              <a:rPr dirty="0" spc="-5"/>
              <a:t> </a:t>
            </a:r>
            <a:r>
              <a:rPr dirty="0" spc="-15"/>
              <a:t>random</a:t>
            </a:r>
            <a:r>
              <a:rPr dirty="0" spc="30"/>
              <a:t> </a:t>
            </a:r>
            <a:r>
              <a:rPr dirty="0" spc="-30"/>
              <a:t>forest</a:t>
            </a:r>
            <a:r>
              <a:rPr dirty="0" spc="15"/>
              <a:t> </a:t>
            </a:r>
            <a:r>
              <a:rPr dirty="0" spc="-10"/>
              <a:t>algorithm</a:t>
            </a:r>
            <a:r>
              <a:rPr dirty="0" spc="5"/>
              <a:t> </a:t>
            </a:r>
            <a:r>
              <a:rPr dirty="0" spc="-15"/>
              <a:t>randomly</a:t>
            </a:r>
            <a:r>
              <a:rPr dirty="0" spc="25"/>
              <a:t> </a:t>
            </a:r>
            <a:r>
              <a:rPr dirty="0" spc="-5"/>
              <a:t>selects</a:t>
            </a:r>
            <a:r>
              <a:rPr dirty="0" spc="15"/>
              <a:t> </a:t>
            </a:r>
            <a:r>
              <a:rPr dirty="0" spc="-10"/>
              <a:t>observations</a:t>
            </a:r>
            <a:r>
              <a:rPr dirty="0" spc="35"/>
              <a:t> </a:t>
            </a:r>
            <a:r>
              <a:rPr dirty="0" spc="-5"/>
              <a:t>and </a:t>
            </a:r>
            <a:r>
              <a:rPr dirty="0"/>
              <a:t> </a:t>
            </a:r>
            <a:r>
              <a:rPr dirty="0" spc="-20"/>
              <a:t>features</a:t>
            </a:r>
            <a:r>
              <a:rPr dirty="0" spc="10"/>
              <a:t> </a:t>
            </a:r>
            <a:r>
              <a:rPr dirty="0" spc="-20"/>
              <a:t>to</a:t>
            </a:r>
            <a:r>
              <a:rPr dirty="0"/>
              <a:t> </a:t>
            </a:r>
            <a:r>
              <a:rPr dirty="0" spc="-10"/>
              <a:t>build</a:t>
            </a:r>
            <a:r>
              <a:rPr dirty="0" spc="35"/>
              <a:t> </a:t>
            </a:r>
            <a:r>
              <a:rPr dirty="0" spc="-20"/>
              <a:t>several</a:t>
            </a:r>
            <a:r>
              <a:rPr dirty="0" spc="-10"/>
              <a:t> decision</a:t>
            </a:r>
            <a:r>
              <a:rPr dirty="0" spc="30"/>
              <a:t> </a:t>
            </a:r>
            <a:r>
              <a:rPr dirty="0" spc="-10"/>
              <a:t>trees</a:t>
            </a:r>
            <a:r>
              <a:rPr dirty="0" spc="5"/>
              <a:t> </a:t>
            </a:r>
            <a:r>
              <a:rPr dirty="0" spc="-5"/>
              <a:t>and</a:t>
            </a:r>
            <a:r>
              <a:rPr dirty="0" spc="20"/>
              <a:t> </a:t>
            </a:r>
            <a:r>
              <a:rPr dirty="0" spc="-5"/>
              <a:t>then</a:t>
            </a:r>
            <a:r>
              <a:rPr dirty="0" spc="5"/>
              <a:t> </a:t>
            </a:r>
            <a:r>
              <a:rPr dirty="0" spc="-25"/>
              <a:t>averages</a:t>
            </a:r>
            <a:r>
              <a:rPr dirty="0" spc="-10"/>
              <a:t> </a:t>
            </a:r>
            <a:r>
              <a:rPr dirty="0" spc="-5"/>
              <a:t>the</a:t>
            </a:r>
            <a:r>
              <a:rPr dirty="0" spc="10"/>
              <a:t> </a:t>
            </a:r>
            <a:r>
              <a:rPr dirty="0" spc="-10"/>
              <a:t>results.</a:t>
            </a:r>
          </a:p>
          <a:p>
            <a:pPr marL="287020" marR="977900" indent="-92075">
              <a:lnSpc>
                <a:spcPts val="3030"/>
              </a:lnSpc>
              <a:spcBef>
                <a:spcPts val="1400"/>
              </a:spcBef>
              <a:buClr>
                <a:srgbClr val="E38312"/>
              </a:buClr>
              <a:buFont typeface="Wingdings"/>
              <a:buChar char=""/>
              <a:tabLst>
                <a:tab pos="593725" algn="l"/>
              </a:tabLst>
            </a:pPr>
            <a:r>
              <a:rPr dirty="0" spc="-5"/>
              <a:t>Another</a:t>
            </a:r>
            <a:r>
              <a:rPr dirty="0" spc="20"/>
              <a:t> </a:t>
            </a:r>
            <a:r>
              <a:rPr dirty="0" spc="-20"/>
              <a:t>difference</a:t>
            </a:r>
            <a:r>
              <a:rPr dirty="0" spc="10"/>
              <a:t> </a:t>
            </a:r>
            <a:r>
              <a:rPr dirty="0" spc="-5"/>
              <a:t>is</a:t>
            </a:r>
            <a:r>
              <a:rPr dirty="0"/>
              <a:t> </a:t>
            </a:r>
            <a:r>
              <a:rPr dirty="0" spc="-5"/>
              <a:t>"deep"</a:t>
            </a:r>
            <a:r>
              <a:rPr dirty="0" spc="10"/>
              <a:t> </a:t>
            </a:r>
            <a:r>
              <a:rPr dirty="0" spc="-10"/>
              <a:t>decision</a:t>
            </a:r>
            <a:r>
              <a:rPr dirty="0" spc="15"/>
              <a:t> </a:t>
            </a:r>
            <a:r>
              <a:rPr dirty="0" spc="-10"/>
              <a:t>trees</a:t>
            </a:r>
            <a:r>
              <a:rPr dirty="0" spc="5"/>
              <a:t> </a:t>
            </a:r>
            <a:r>
              <a:rPr dirty="0" spc="-10"/>
              <a:t>might</a:t>
            </a:r>
            <a:r>
              <a:rPr dirty="0" spc="10"/>
              <a:t> </a:t>
            </a:r>
            <a:r>
              <a:rPr dirty="0" spc="-25"/>
              <a:t>suffer</a:t>
            </a:r>
            <a:r>
              <a:rPr dirty="0" spc="20"/>
              <a:t> </a:t>
            </a:r>
            <a:r>
              <a:rPr dirty="0" spc="-20"/>
              <a:t>from </a:t>
            </a:r>
            <a:r>
              <a:rPr dirty="0" spc="-620"/>
              <a:t> </a:t>
            </a:r>
            <a:r>
              <a:rPr dirty="0" spc="-15"/>
              <a:t>overfitting.</a:t>
            </a:r>
          </a:p>
          <a:p>
            <a:pPr marL="287020" marR="5080" indent="-92075">
              <a:lnSpc>
                <a:spcPts val="302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"/>
              <a:tabLst>
                <a:tab pos="593725" algn="l"/>
              </a:tabLst>
            </a:pPr>
            <a:r>
              <a:rPr dirty="0" spc="-15"/>
              <a:t>Most</a:t>
            </a:r>
            <a:r>
              <a:rPr dirty="0" spc="20"/>
              <a:t> </a:t>
            </a:r>
            <a:r>
              <a:rPr dirty="0" spc="-5"/>
              <a:t>of</a:t>
            </a:r>
            <a:r>
              <a:rPr dirty="0"/>
              <a:t> </a:t>
            </a:r>
            <a:r>
              <a:rPr dirty="0" spc="-5"/>
              <a:t>the</a:t>
            </a:r>
            <a:r>
              <a:rPr dirty="0" spc="15"/>
              <a:t> </a:t>
            </a:r>
            <a:r>
              <a:rPr dirty="0" spc="-5"/>
              <a:t>time,</a:t>
            </a:r>
            <a:r>
              <a:rPr dirty="0" spc="15"/>
              <a:t> </a:t>
            </a:r>
            <a:r>
              <a:rPr dirty="0" spc="-15"/>
              <a:t>random</a:t>
            </a:r>
            <a:r>
              <a:rPr dirty="0" spc="25"/>
              <a:t> </a:t>
            </a:r>
            <a:r>
              <a:rPr dirty="0" spc="-30"/>
              <a:t>forest</a:t>
            </a:r>
            <a:r>
              <a:rPr dirty="0" spc="15"/>
              <a:t> </a:t>
            </a:r>
            <a:r>
              <a:rPr dirty="0" spc="-20"/>
              <a:t>prevents</a:t>
            </a:r>
            <a:r>
              <a:rPr dirty="0" spc="25"/>
              <a:t> </a:t>
            </a:r>
            <a:r>
              <a:rPr dirty="0" spc="-10"/>
              <a:t>this</a:t>
            </a:r>
            <a:r>
              <a:rPr dirty="0" spc="25"/>
              <a:t> </a:t>
            </a:r>
            <a:r>
              <a:rPr dirty="0" spc="-15"/>
              <a:t>by</a:t>
            </a:r>
            <a:r>
              <a:rPr dirty="0" spc="10"/>
              <a:t> </a:t>
            </a:r>
            <a:r>
              <a:rPr dirty="0" spc="-15"/>
              <a:t>creating</a:t>
            </a:r>
            <a:r>
              <a:rPr dirty="0" spc="5"/>
              <a:t> </a:t>
            </a:r>
            <a:r>
              <a:rPr dirty="0" spc="-15"/>
              <a:t>random </a:t>
            </a:r>
            <a:r>
              <a:rPr dirty="0" spc="-10"/>
              <a:t> subsets</a:t>
            </a:r>
            <a:r>
              <a:rPr dirty="0" spc="30"/>
              <a:t> </a:t>
            </a:r>
            <a:r>
              <a:rPr dirty="0" spc="-5"/>
              <a:t>of the</a:t>
            </a:r>
            <a:r>
              <a:rPr dirty="0" spc="5"/>
              <a:t> </a:t>
            </a:r>
            <a:r>
              <a:rPr dirty="0" spc="-20"/>
              <a:t>features</a:t>
            </a:r>
            <a:r>
              <a:rPr dirty="0" spc="15"/>
              <a:t> </a:t>
            </a:r>
            <a:r>
              <a:rPr dirty="0" spc="-5"/>
              <a:t>and</a:t>
            </a:r>
            <a:r>
              <a:rPr dirty="0" spc="5"/>
              <a:t> </a:t>
            </a:r>
            <a:r>
              <a:rPr dirty="0" spc="-10"/>
              <a:t>building</a:t>
            </a:r>
            <a:r>
              <a:rPr dirty="0" spc="40"/>
              <a:t> </a:t>
            </a:r>
            <a:r>
              <a:rPr dirty="0" spc="-10"/>
              <a:t>smaller</a:t>
            </a:r>
            <a:r>
              <a:rPr dirty="0"/>
              <a:t> </a:t>
            </a:r>
            <a:r>
              <a:rPr dirty="0" spc="-10"/>
              <a:t>trees</a:t>
            </a:r>
            <a:r>
              <a:rPr dirty="0" spc="15"/>
              <a:t> </a:t>
            </a:r>
            <a:r>
              <a:rPr dirty="0" spc="-10"/>
              <a:t>using</a:t>
            </a:r>
            <a:r>
              <a:rPr dirty="0" spc="15"/>
              <a:t> </a:t>
            </a:r>
            <a:r>
              <a:rPr dirty="0" spc="-5"/>
              <a:t>those</a:t>
            </a:r>
            <a:r>
              <a:rPr dirty="0" spc="35"/>
              <a:t> </a:t>
            </a:r>
            <a:r>
              <a:rPr dirty="0" spc="-10"/>
              <a:t>subsets.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95113" y="3124022"/>
            <a:ext cx="1708150" cy="7575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5"/>
              <a:t>Thanks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Ahmed Yousry</dc:creator>
  <dc:title>Random Forest Algorithms</dc:title>
  <dcterms:created xsi:type="dcterms:W3CDTF">2024-04-02T11:57:29Z</dcterms:created>
  <dcterms:modified xsi:type="dcterms:W3CDTF">2024-04-02T11:57:29Z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2021-04-29T00:00:00Z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2024-04-02T00:00:00Z</vt:filetime>
  </property>
</Properties>
</file>